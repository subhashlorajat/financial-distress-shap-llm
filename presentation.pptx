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6C7A7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C7A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35-4B90-A751-0348D34F6C94}"/>
              </c:ext>
            </c:extLst>
          </c:dPt>
          <c:dPt>
            <c:idx val="1"/>
            <c:invertIfNegative val="0"/>
            <c:bubble3D val="0"/>
            <c:spPr>
              <a:solidFill>
                <a:srgbClr val="0B5D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35-4B90-A751-0348D34F6C94}"/>
              </c:ext>
            </c:extLst>
          </c:dPt>
          <c:dPt>
            <c:idx val="2"/>
            <c:invertIfNegative val="0"/>
            <c:bubble3D val="0"/>
            <c:spPr>
              <a:solidFill>
                <a:srgbClr val="1280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35-4B90-A751-0348D34F6C94}"/>
              </c:ext>
            </c:extLst>
          </c:dPt>
          <c:dPt>
            <c:idx val="3"/>
            <c:invertIfNegative val="0"/>
            <c:bubble3D val="0"/>
            <c:spPr>
              <a:solidFill>
                <a:srgbClr val="C45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35-4B90-A751-0348D34F6C94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</c:v>
                </c:pt>
                <c:pt idx="1">
                  <c:v>XGBoost</c:v>
                </c:pt>
                <c:pt idx="2">
                  <c:v>MLP</c:v>
                </c:pt>
                <c:pt idx="3">
                  <c:v>TabTransf.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0.73699999999999999</c:v>
                </c:pt>
                <c:pt idx="1">
                  <c:v>0.84699999999999998</c:v>
                </c:pt>
                <c:pt idx="2">
                  <c:v>0.78900000000000003</c:v>
                </c:pt>
                <c:pt idx="3">
                  <c:v>0.754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35-4B90-A751-0348D34F6C9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0E2A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E036B02E-01F7-9EA3-F3FE-5C6FEF30A9C1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440680" cy="265176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030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(about 45s). We built a system that scores whether a company is Healthy, At-Risk, or Distressed from its financial statements. The problem everyone in banking faces: the most accurate models are black boxes nobody trusts. Our pipeline solves both halves — it predicts with a strong model, explains every prediction with SHAP, and turns that explanation into a plain-English analyst report. Three stages: predict, explain, narrate.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(about 60s). Two camps: accurate-but-opaque models, and trusted-but-limited traditional methods. That trade-off has kept ML out of this workflow at scale. Our objectives are two research questions. RQ1 is a modelling question — do the fancy deep models actually beat XGBoost here. RQ2 is the generative-AI question — can an LLM convert SHAP numbers into narratives that are faithful and useful. The overarching goal is a pipeline where the reasoning is both auditable and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 (about 75s — this is the core slide). We followed CRISP-DM. Five stages left to right. Start with 9,284 US company-years from SimFin, labelled with the Altman Z-prime score into three health classes. Engineer 23 leakage-safe features and split by company. Train four classifiers — logistic regression, XGBoost, MLP, TabTransformer — five seeds each, tuned only on validation. Explain the winner with TreeSHAP, which gives exact per-prediction attributions. Finally feed those into GPT-4o-mini under a six-rule prompt to produce the analyst narrative. RQ1 lives at the model stage, RQ2 at the narrate stage. The bottom band is what makes it trustworthy: company-level splitting stops leakage, we deliberately excluded the exact Altman components so the model can't cheat, and every model was evaluated identically.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(about 75s). Two questions, two clear answers. RQ1, on the left: XGBoost wins at 0.847 F1-macro. Crucially TabTransformer, the fanciest model, comes last — even below the simple MLP. The gap is about eight standard deviations, so it is real, and XGBoost trains 470 times faster. That is a clean negative result, and it matches the recent literature that trees still beat deep learning on small tabular data. RQ2, on the right: the narratives name all three key features 98% of the time, contain zero hallucinated numbers — that is the headline, because hallucination is what has kept LLMs out of finance — and humans rated them 4.5 out of 5. The whole run cost under two cents.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(about 45s). The headline: accuracy and interpretability are not a trade-off — you can have a strong classifier and an audit-ready explanation at the same time, for pennies. Predict with XGBoost, explain with SHAP, narrate with a tightly-constrained LLM. Honest limitation: our labels come from the Altman formula, not actual bankruptcy filings, so the next step is validating against real Chapter 11 outcomes.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roundRect">
            <a:avLst>
              <a:gd name="adj" fmla="val 7273"/>
            </a:avLst>
          </a:prstGeom>
          <a:solidFill>
            <a:srgbClr val="0B5D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-2011680"/>
            <a:ext cx="4114800" cy="4114800"/>
          </a:xfrm>
          <a:prstGeom prst="roundRect">
            <a:avLst>
              <a:gd name="adj" fmla="val 8889"/>
            </a:avLst>
          </a:prstGeom>
          <a:solidFill>
            <a:srgbClr val="128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GENERATIVE AI  ·  NCI MSc DATA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Explainable Financial</a:t>
            </a:r>
            <a:endParaRPr lang="en-US" sz="50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Health Scoring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be both accurate and trusted? A three-stage pipeline that predicts, explains, and narrates company financial health.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4709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B5D63"/>
          </a:solidFill>
          <a:ln w="12700">
            <a:solidFill>
              <a:srgbClr val="1280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4828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5230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0.847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5536" y="48920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47288" y="4709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B5D63"/>
          </a:solidFill>
          <a:ln w="12700">
            <a:solidFill>
              <a:srgbClr val="1280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47288" y="4828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5230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34456" y="48920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36208" y="4709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B5D63"/>
          </a:solidFill>
          <a:ln w="12700">
            <a:solidFill>
              <a:srgbClr val="1280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36208" y="4828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36208" y="5230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 ·  10-12 pp IEEE  ·  Members A · B · 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ADDRESS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2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best models are the least trusted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50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quarter, banks and auditors must sort thousands of companies into healthy, at-risk, and distressed. Machine learning is fast and cheap — but the models that work best on financial data are black boxes that regulators and credit committees will not sign off 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8F0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13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trees, deep tabular models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4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opaque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3429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8F0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20440" y="3566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3913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ratios, expert judgement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4480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4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leaves capacity untapped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E087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aim: dissolve this trade-off.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37960" y="1783080"/>
            <a:ext cx="4983480" cy="4160520"/>
          </a:xfrm>
          <a:prstGeom prst="roundRect">
            <a:avLst>
              <a:gd name="adj" fmla="val 3516"/>
            </a:avLst>
          </a:prstGeom>
          <a:solidFill>
            <a:srgbClr val="0E2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251460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128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0" y="25146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0" y="24688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deep tabular models (MLP, TabTransformer) beat gradient boosting (XGBoost) on the same features and splits?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365760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128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0" y="36576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0" y="36118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LLM turn SHAP values into analyst narratives that are faithful, hallucination-free, and useful to humans?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0" y="480060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128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0" y="48006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63840" y="47548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reproducible predict → explain → narrate pipeline that separates the audit trail from the user interface.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H9DLGA · Explainable Financial Health Scoring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· CRISP-DM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2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three-stage pipeline,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0B5D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213055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B5D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21305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6243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9,284 company-years · SimFin / SEC EDGAR · Altman Z′ labels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52344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98648" y="196596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0B5D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063240" y="213055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B5D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63240" y="21305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26243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63240" y="301752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features · leakage-safe · company-level split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10912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57216" y="196596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E087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21808" y="213055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E08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21808" y="21305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26243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21808" y="301752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 · 5 seeds · tuned on validation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69480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15784" y="196596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1280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580376" y="213055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128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580376" y="21305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0376" y="26243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80376" y="301752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· exact per-prediction attributions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28048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74352" y="1965960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E7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838944" y="213055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3E7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838944" y="21305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38944" y="26243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NARRATE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838944" y="301752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6-rule prompt · analyst report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53328" y="4069080"/>
            <a:ext cx="640080" cy="310896"/>
          </a:xfrm>
          <a:prstGeom prst="roundRect">
            <a:avLst>
              <a:gd name="adj" fmla="val 44118"/>
            </a:avLst>
          </a:prstGeom>
          <a:solidFill>
            <a:srgbClr val="E087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881360" y="4069080"/>
            <a:ext cx="640080" cy="310896"/>
          </a:xfrm>
          <a:prstGeom prst="roundRect">
            <a:avLst>
              <a:gd name="adj" fmla="val 44118"/>
            </a:avLst>
          </a:prstGeom>
          <a:solidFill>
            <a:srgbClr val="3E7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9333"/>
            </a:avLst>
          </a:prstGeom>
          <a:solidFill>
            <a:srgbClr val="E8F0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68680" y="4864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RIGOROUS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51663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Company-level split  </a:t>
            </a:r>
            <a:r>
              <a:rPr lang="en-US" sz="12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firm never appears in train and test — prevents 7.4% leakage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53128" y="51663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 leakage  </a:t>
            </a:r>
            <a:r>
              <a:rPr lang="en-US" sz="12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Altman components excluded — the model can't just re-derive the label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37576" y="51663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  </a:t>
            </a:r>
            <a:r>
              <a:rPr lang="en-US" sz="12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 · same features · tuned only on validation · test touched once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H9DLGA · Explainable Financial Health Scoring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2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question answered no, one answered yes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</a:t>
            </a: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— deep models don't help here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711960725"/>
              </p:ext>
            </p:extLst>
          </p:nvPr>
        </p:nvGraphicFramePr>
        <p:xfrm>
          <a:off x="640080" y="2194560"/>
          <a:ext cx="54406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9834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~8 standard deviations — not seed noise. XGBoost also trains ~470× faster.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46520" y="1691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</a:t>
            </a:r>
            <a:r>
              <a:rPr lang="en-US" sz="15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narratives hold up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46520" y="2194560"/>
            <a:ext cx="242316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E8F0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83680" y="23225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7A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98%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58368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all 3 top SHAP features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52560" y="2194560"/>
            <a:ext cx="242316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E8F0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89720" y="23225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7A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18972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hallucination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46520" y="3611880"/>
            <a:ext cx="242316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E8F0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83680" y="37398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7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4.5/5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583680" y="4325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rating — clarity, accuracy, use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052560" y="3611880"/>
            <a:ext cx="242316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E8F0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189720" y="37398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D6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$0.016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189720" y="4325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for 100 narratives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H9DLGA · Explainable Financial Health Scoring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108960"/>
            <a:ext cx="5029200" cy="5029200"/>
          </a:xfrm>
          <a:prstGeom prst="roundRect">
            <a:avLst>
              <a:gd name="adj" fmla="val 7273"/>
            </a:avLst>
          </a:prstGeom>
          <a:solidFill>
            <a:srgbClr val="0B5D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4206240"/>
            <a:ext cx="4114800" cy="4114800"/>
          </a:xfrm>
          <a:prstGeom prst="roundRect">
            <a:avLst>
              <a:gd name="adj" fmla="val 8889"/>
            </a:avLst>
          </a:prstGeom>
          <a:solidFill>
            <a:srgbClr val="128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Accuracy and interpretability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are not a trade-off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E08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73405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delivers 0.847 F1-macro — deep tabular models lost decisively at this scale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E08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630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357530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gives exact, per-prediction reasoning that agrees with a linear baseline (ρ=0.68)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E08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4714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441655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prompting drove numeric hallucination to zero — the barrier to LLMs in finance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FB8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Z′ labels are a proxy, not filed bankruptcies.   Next: validate on real Chapter 11 outcomes; richer categoricals for the transformer.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7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  · 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1051</Words>
  <Application>Microsoft Office PowerPoint</Application>
  <PresentationFormat>Widescreen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H9DLGA Group</dc:creator>
  <cp:lastModifiedBy>Smit Gandubhai Savaliya</cp:lastModifiedBy>
  <cp:revision>2</cp:revision>
  <dcterms:created xsi:type="dcterms:W3CDTF">2026-07-27T12:04:02Z</dcterms:created>
  <dcterms:modified xsi:type="dcterms:W3CDTF">2026-07-27T18:19:12Z</dcterms:modified>
</cp:coreProperties>
</file>